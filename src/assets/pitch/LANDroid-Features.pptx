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99B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463040"/>
            <a:ext cx="201168" cy="201168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201168" cy="201168"/>
          </a:xfrm>
          <a:prstGeom prst="ellipse">
            <a:avLst/>
          </a:prstGeom>
          <a:solidFill>
            <a:srgbClr val="A26769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1463040"/>
            <a:ext cx="201168" cy="201168"/>
          </a:xfrm>
          <a:prstGeom prst="ellipse">
            <a:avLst/>
          </a:prstGeom>
          <a:solidFill>
            <a:srgbClr val="A26769">
              <a:alpha val="6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1463040"/>
            <a:ext cx="201168" cy="201168"/>
          </a:xfrm>
          <a:prstGeom prst="ellipse">
            <a:avLst/>
          </a:prstGeom>
          <a:solidFill>
            <a:srgbClr val="A26769">
              <a:alpha val="46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9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TITLE, RE-IMAGINED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LANDroid</a:t>
            </a:r>
            <a:endParaRPr lang="en-US" sz="108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visual ownership engine for the working landman.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5943600"/>
            <a:ext cx="2743200" cy="0"/>
          </a:xfrm>
          <a:prstGeom prst="line">
            <a:avLst/>
          </a:prstGeom>
          <a:noFill/>
          <a:ln w="19050">
            <a:solidFill>
              <a:srgbClr val="C99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Overview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Landmen still ship title work in Excel.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Spreadsheet sprawl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tables, snapshot grids, and royalty math live in fragile workbooks.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081528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71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Hand-drawn flowcharts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chains get redrawn in Visio or Miro for every deliverable.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931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Float-math drift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43159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Decimals don't roll up cleanly. Pennies get lost. Auditors push 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001768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92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27608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asks "where did 0.0234375 come from," the answer is in the landman's head.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2011680"/>
            <a:ext cx="4206240" cy="3749040"/>
          </a:xfrm>
          <a:prstGeom prst="rect">
            <a:avLst/>
          </a:prstGeom>
          <a:solidFill>
            <a:srgbClr val="6D2E46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80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C99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9000" dirty="0"/>
          </a:p>
        </p:txBody>
      </p:sp>
      <p:sp>
        <p:nvSpPr>
          <p:cNvPr id="19" name="Text 17"/>
          <p:cNvSpPr/>
          <p:nvPr/>
        </p:nvSpPr>
        <p:spPr>
          <a:xfrm>
            <a:off x="7772400" y="28346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is right. The proof of the math is not.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2400" y="5212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landman on a deadline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workspace for the title chain, the math, and the paper.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is a desk-side application for mineral-title work — oil &amp; gas, fee and state leases. Build a chain of title on a visual canvas, let the engine cascade royalty math in exact-precision decimals, attach the underlying documents, and hand a clean deliverable to a broker, partner, or auditor.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7800" dirty="0"/>
          </a:p>
        </p:txBody>
      </p:sp>
      <p:sp>
        <p:nvSpPr>
          <p:cNvPr id="8" name="Shape 6"/>
          <p:cNvSpPr/>
          <p:nvPr/>
        </p:nvSpPr>
        <p:spPr>
          <a:xfrm>
            <a:off x="685800" y="4800600"/>
            <a:ext cx="45720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places of exact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29184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800" dirty="0"/>
          </a:p>
        </p:txBody>
      </p:sp>
      <p:sp>
        <p:nvSpPr>
          <p:cNvPr id="12" name="Shape 10"/>
          <p:cNvSpPr/>
          <p:nvPr/>
        </p:nvSpPr>
        <p:spPr>
          <a:xfrm>
            <a:off x="3611880" y="4800600"/>
            <a:ext cx="45720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every burden cascaded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7800" dirty="0"/>
          </a:p>
        </p:txBody>
      </p:sp>
      <p:sp>
        <p:nvSpPr>
          <p:cNvPr id="16" name="Shape 14"/>
          <p:cNvSpPr/>
          <p:nvPr/>
        </p:nvSpPr>
        <p:spPr>
          <a:xfrm>
            <a:off x="6537960" y="4800600"/>
            <a:ext cx="45720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title operations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235440" y="3291840"/>
            <a:ext cx="26517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18320" y="3383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800" dirty="0"/>
          </a:p>
        </p:txBody>
      </p:sp>
      <p:sp>
        <p:nvSpPr>
          <p:cNvPr id="20" name="Shape 18"/>
          <p:cNvSpPr/>
          <p:nvPr/>
        </p:nvSpPr>
        <p:spPr>
          <a:xfrm>
            <a:off x="9464040" y="4800600"/>
            <a:ext cx="45720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4892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float-math epsilon hacks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Local-first. Decimal-exact. Document-grounded.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 Map — the title chain on a canvas.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Miro-style canvas where every conveyance is a card.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2560320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Convey, Precede, Attach, Delete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8163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title operations. Each one updates the cascade in real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 &amp; branch indicators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7307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which fraction stayed with the grantor and which went out.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89120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Multi-document attachments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6451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the deed, the affidavit, and the correction onto a single node.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5303520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12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Tract-aware coverage totals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5595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chain, linked owners, leased — at a glance, per tract.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874520"/>
            <a:ext cx="4754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3252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2688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2124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0" y="1874520"/>
            <a:ext cx="0" cy="438912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2501537"/>
            <a:ext cx="4754880" cy="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3128554"/>
            <a:ext cx="4754880" cy="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3755571"/>
            <a:ext cx="4754880" cy="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4382589"/>
            <a:ext cx="4754880" cy="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5009606"/>
            <a:ext cx="4754880" cy="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49440" y="5636623"/>
            <a:ext cx="4754880" cy="0"/>
          </a:xfrm>
          <a:prstGeom prst="line">
            <a:avLst/>
          </a:prstGeom>
          <a:noFill/>
          <a:ln w="6350">
            <a:solidFill>
              <a:srgbClr val="EFE7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1080" y="2331720"/>
            <a:ext cx="1371600" cy="777240"/>
          </a:xfrm>
          <a:prstGeom prst="rect">
            <a:avLst/>
          </a:prstGeom>
          <a:solidFill>
            <a:srgbClr val="ECE2D0"/>
          </a:solidFill>
          <a:ln w="19050">
            <a:solidFill>
              <a:srgbClr val="6D2E4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714232" y="2404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ALVAREZ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14232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 | 1/1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60920" y="3977640"/>
            <a:ext cx="1371600" cy="777240"/>
          </a:xfrm>
          <a:prstGeom prst="rect">
            <a:avLst/>
          </a:prstGeom>
          <a:solidFill>
            <a:srgbClr val="ECE2D0"/>
          </a:solidFill>
          <a:ln w="19050">
            <a:solidFill>
              <a:srgbClr val="A2676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34072" y="4050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HEIR 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34072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 | 1/2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921240" y="3977640"/>
            <a:ext cx="1371600" cy="777240"/>
          </a:xfrm>
          <a:prstGeom prst="rect">
            <a:avLst/>
          </a:prstGeom>
          <a:solidFill>
            <a:srgbClr val="ECE2D0"/>
          </a:solidFill>
          <a:ln w="19050">
            <a:solidFill>
              <a:srgbClr val="A26769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994392" y="40507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HEIR 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994392" y="43434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 | 1/2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360920" y="5394960"/>
            <a:ext cx="1371600" cy="777240"/>
          </a:xfrm>
          <a:prstGeom prst="rect">
            <a:avLst/>
          </a:prstGeom>
          <a:solidFill>
            <a:srgbClr val="ECE2D0"/>
          </a:solidFill>
          <a:ln w="19050">
            <a:solidFill>
              <a:srgbClr val="C99B5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434072" y="5468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LEASE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34072" y="5760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 | 1/4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326880" y="3108960"/>
            <a:ext cx="-1280160" cy="8686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26880" y="3108960"/>
            <a:ext cx="1280160" cy="8686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46720" y="4754880"/>
            <a:ext cx="0" cy="640080"/>
          </a:xfrm>
          <a:prstGeom prst="line">
            <a:avLst/>
          </a:prstGeom>
          <a:noFill/>
          <a:ln w="19050">
            <a:solidFill>
              <a:srgbClr val="A267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19476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MAP  ·  RAVEN FOREST, TRACT C-3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Exact-precision math that doesn't drift.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4297680"/>
          </a:xfrm>
          <a:prstGeom prst="rect">
            <a:avLst/>
          </a:prstGeom>
          <a:solidFill>
            <a:srgbClr val="6D2E46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103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9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Decimal.js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floats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097280" cy="0"/>
          </a:xfrm>
          <a:prstGeom prst="line">
            <a:avLst/>
          </a:prstGeom>
          <a:noFill/>
          <a:ln w="19050">
            <a:solidFill>
              <a:srgbClr val="C99B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83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0.062500000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1/16 — rendered alongside the decimal, every time, by a Stern-Brocot fraction finder.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operations. Every cascade guarded.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4688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executeConveyance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grantor → grantee for a fractional interest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2004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executeRebalance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re-proportion siblings after a correction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931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executePredecessorInsert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42062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splice an heir or missing link into the chain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46634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executeAttachConveyance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49377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re-parent a branch onto a different ancestor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5394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executeDeleteBranch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56692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node and clean cascade downstream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decimal shows its work.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number in the app. The full derivation pops out — inputs, formula, substitutions, result. No more "trust me" math.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5943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926080"/>
            <a:ext cx="91440" cy="329184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Tract Royalty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Leased Fraction × Royalty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(1/2) × (1/4)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0.125000000  ·  1/8  ·  12.50%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9440" y="2926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49440" y="347472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Auditors stop asking how you got there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0" y="411480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 can verify decimals without opening the file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475488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feeds the printable Audit Sheet export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539496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5303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formula objects — engine, UI, and print stay in sync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Leasehold — burdens, splits, unit economics.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leasehold view computes unit-decimal economics tract by tract: tract participation, leased ownership, every burden stacked in date order, every assignment netted out.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5321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834640"/>
            <a:ext cx="91440" cy="1600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992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 Participation Factor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Per-tract pooled-acre weighting with the formula printed inline. No more spreadsheet TPF cells with stale references.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834640"/>
            <a:ext cx="55321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2834640"/>
            <a:ext cx="91440" cy="160020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99923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NPRI Burdens — fixed &amp; floating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338328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Whole-tract, branch, and royalty-basis NPRIs stack correctly. Over-burdened tracts surface as warnings, not silent drift.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55321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617720"/>
            <a:ext cx="91440" cy="1600200"/>
          </a:xfrm>
          <a:prstGeom prst="rect">
            <a:avLst/>
          </a:prstGeom>
          <a:solidFill>
            <a:srgbClr val="C99B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823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ORRI by basis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1663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8/8, WI, or NRI basis — assigned per-unit and per-tract, layered in chronological order.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4617720"/>
            <a:ext cx="55321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4617720"/>
            <a:ext cx="91440" cy="1600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478231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 splits &amp; transfer orders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46520" y="516636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Pre-WI subtraction shown step by step. Assignments roll up into a transfer-order with variance against expected coverage.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 — every paper in one drawer.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7A. One row per document. Saved views for the work you do all day.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6032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views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7614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· Runsheet · Leasehold · Curative · Research · GIS · Federal · Duplicates · Needs OCR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29184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Metadata you actually use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4930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type, county, vol/page, effective &amp; recording dates, grantor/grantee, OCR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319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Linked-entity display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2245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nodes the document attaches to — and jump straight to the Desk Map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75488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6344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Content-hash dedup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49560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same PDF twice — LANDroid catches 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548640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39496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Packet builder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68756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a view, preview the packet, export a JSON manifest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468880"/>
            <a:ext cx="4206240" cy="3657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532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75520" y="2532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881360" y="2532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2834640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352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Alvarez → Heirs WD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Runsheet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218688"/>
            <a:ext cx="4206240" cy="384048"/>
          </a:xfrm>
          <a:prstGeom prst="rect">
            <a:avLst/>
          </a:prstGeom>
          <a:solidFill>
            <a:srgbClr val="F7F0E1"/>
          </a:solidFill>
          <a:ln w="6350">
            <a:solidFill>
              <a:srgbClr val="DDD0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NPRI Reservation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875520" y="3291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Curative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8136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3602736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3675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Lease (Texaco)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875520" y="3675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Leasehold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881360" y="3675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98080" y="3986784"/>
            <a:ext cx="4206240" cy="384048"/>
          </a:xfrm>
          <a:prstGeom prst="rect">
            <a:avLst/>
          </a:prstGeom>
          <a:solidFill>
            <a:srgbClr val="F7F0E1"/>
          </a:solidFill>
          <a:ln w="6350">
            <a:solidFill>
              <a:srgbClr val="DDD0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40599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Affidavit of Heirship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Curative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81360" y="40599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98080" y="4370832"/>
            <a:ext cx="4206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0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4443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Deed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875520" y="4443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Runsheet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881360" y="44439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98080" y="4754880"/>
            <a:ext cx="4206240" cy="384048"/>
          </a:xfrm>
          <a:prstGeom prst="rect">
            <a:avLst/>
          </a:prstGeom>
          <a:solidFill>
            <a:srgbClr val="F7F0E1"/>
          </a:solidFill>
          <a:ln w="6350">
            <a:solidFill>
              <a:srgbClr val="DDD0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4828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Lease 56-A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87552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881360" y="48280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co-pilot — bounded, grounded, sandboxed.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uses AI where it earns its keep — turning messy spreadsheets into nodes, and answering domain questions from your workspace. Not for inventing title.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88920"/>
            <a:ext cx="5532120" cy="5029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IMPORT WIZARD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566160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 .xlsx or .csv — parsed in a sandboxed Web Worker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096512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256KB / 32 sheets / 5000 cells parse caps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626864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535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 sheet classification + column mapping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157216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065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 output — no hallucinated fields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687568"/>
            <a:ext cx="164592" cy="164592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review every row before it touches the canvas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788920"/>
            <a:ext cx="553212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2788920"/>
            <a:ext cx="5532120" cy="5029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8803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ASSISTANT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566160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Domain-tuned system prompt — no invented citations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096512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mode is read-only — answers, doesn't mutate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4626864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535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 unlocks ~25 supervised authoring tools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5157216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5065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500K daily token ceiling enforced server-side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5687568"/>
            <a:ext cx="164592" cy="164592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5596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session-only; hosted requests proxied via Lambda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working landman.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749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4884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fraction, NMA, entity type, county, deceased flag, probate venue, contact.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749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14884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6334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title issues — heirship, missing heirs, stipulations — through to resolution.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3749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14884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1762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6334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notes, RRC imports, saved questions. Parking lot for everything you read.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3749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5196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79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 Leasing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73659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BLM lease tracking with communitization references. Reference-side today.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023360"/>
            <a:ext cx="3749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425196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279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2064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17720" y="473659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map assets, regions, and external GIS references kept with the workspace.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4023360"/>
            <a:ext cx="374904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4251960"/>
            <a:ext cx="411480" cy="4114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427939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0684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Data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473659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Raven Forest (combinatorial) and Crackbaby Carnival (planted errors) for training.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355080"/>
            <a:ext cx="11247120" cy="91440"/>
          </a:xfrm>
          <a:prstGeom prst="rect">
            <a:avLst/>
          </a:prstGeom>
          <a:solidFill>
            <a:srgbClr val="C99B5C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54864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a broker will actually open.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output side. Everything below shipped or actively in flight.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926080"/>
            <a:ext cx="1188720" cy="411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443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27706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Printable flowchart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03120" y="315468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 Map renders to a print overlay. Browser save-as-PDF, ready for a title-opinion exhibit or a broker handoff.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4114800"/>
            <a:ext cx="1188720" cy="411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1330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39593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.landroid round-trip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3434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workspace, owners, leases, documents, and metadata — exported and re-imported with schema-versioned migration (v7 → v8).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98348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DD0B7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5303520"/>
            <a:ext cx="1188720" cy="411480"/>
          </a:xfrm>
          <a:prstGeom prst="rect">
            <a:avLst/>
          </a:prstGeom>
          <a:solidFill>
            <a:srgbClr val="C99B5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321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4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514807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Sheet export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103120" y="55321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tract — every input, every derived number, every formula printed inline. Tooltips, on paper. Designed for the auditor who can't sit at the screen.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ECE2D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LANDroid  —  Feature Overview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565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99B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9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6  ·  TypeScript strict  ·  React 18  ·  React Flow  ·  Decimal.js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  ·  Zustand  ·  Tailwind v4  ·  Vitest + Playwright  ·  Vercel AI SDK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Decimal-exact title.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Document-grounded.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Desk-side ready.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0607040" y="2651760"/>
            <a:ext cx="201168" cy="201168"/>
          </a:xfrm>
          <a:prstGeom prst="ellipse">
            <a:avLst/>
          </a:prstGeom>
          <a:solidFill>
            <a:srgbClr val="C99B5C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3063240"/>
            <a:ext cx="201168" cy="201168"/>
          </a:xfrm>
          <a:prstGeom prst="ellipse">
            <a:avLst/>
          </a:prstGeom>
          <a:solidFill>
            <a:srgbClr val="A26769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3474720"/>
            <a:ext cx="201168" cy="201168"/>
          </a:xfrm>
          <a:prstGeom prst="ellipse">
            <a:avLst/>
          </a:prstGeom>
          <a:solidFill>
            <a:srgbClr val="C99B5C">
              <a:alpha val="8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0" y="3886200"/>
            <a:ext cx="201168" cy="201168"/>
          </a:xfrm>
          <a:prstGeom prst="ellipse">
            <a:avLst/>
          </a:prstGeom>
          <a:solidFill>
            <a:srgbClr val="A26769">
              <a:alpha val="7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07040" y="4297680"/>
            <a:ext cx="201168" cy="201168"/>
          </a:xfrm>
          <a:prstGeom prst="ellipse">
            <a:avLst/>
          </a:prstGeom>
          <a:solidFill>
            <a:srgbClr val="C99B5C">
              <a:alpha val="6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0" y="4709160"/>
            <a:ext cx="201168" cy="201168"/>
          </a:xfrm>
          <a:prstGeom prst="ellipse">
            <a:avLst/>
          </a:prstGeom>
          <a:solidFill>
            <a:srgbClr val="A26769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0" y="2651760"/>
            <a:ext cx="0" cy="2286000"/>
          </a:xfrm>
          <a:prstGeom prst="line">
            <a:avLst/>
          </a:prstGeom>
          <a:noFill/>
          <a:ln w="12700">
            <a:solidFill>
              <a:srgbClr val="C99B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486400"/>
            <a:ext cx="54864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5486400"/>
            <a:ext cx="54864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38912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e2e workflows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5486400"/>
            <a:ext cx="548640" cy="0"/>
          </a:xfrm>
          <a:prstGeom prst="line">
            <a:avLst/>
          </a:prstGeom>
          <a:noFill/>
          <a:ln w="25400">
            <a:solidFill>
              <a:srgbClr val="C99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v8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29600" y="6126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.landroid schema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LANDroid — Feature Overview</dc:title>
  <dc:subject>PptxGenJS Presentation</dc:subject>
  <dc:creator>LANDroid</dc:creator>
  <cp:lastModifiedBy>LANDroid</cp:lastModifiedBy>
  <cp:revision>1</cp:revision>
  <dcterms:created xsi:type="dcterms:W3CDTF">2026-05-17T21:57:31Z</dcterms:created>
  <dcterms:modified xsi:type="dcterms:W3CDTF">2026-05-17T21:57:31Z</dcterms:modified>
</cp:coreProperties>
</file>